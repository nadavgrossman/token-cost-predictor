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8"/>
  </p:normalViewPr>
  <p:slideViewPr>
    <p:cSldViewPr snapToGrid="0" snapToObjects="1">
      <p:cViewPr varScale="1">
        <p:scale>
          <a:sx n="114" d="100"/>
          <a:sy n="114" d="100"/>
        </p:scale>
        <p:origin x="6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1945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the title, then the question. ~15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Curiosity only. Same model, different prompts, very different lengths. Can a classifier read that off the prompt? ~40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Buckets, not exact counts. Point at Short vs Very long. Mention r = 0.10 so they expect a learned model, not a length rule. ~40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sit with the encoder-bucket papers. Ours uses only the prompt. ~40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Data once, then local 4-way vs cloud 8-way on the same split. ~40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Real ChatGPT logs. Prompt length barely predicts answer length. Read Short vs Very long. ~50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Small encoder, laptop, four buckets. ~30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58.7% vs 25%. The length rule is only 33%. ~45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 cloud: context, size, 8 classes. Do not compare 58.7% to 43.4%. ~40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Chance is 12.5% here. Do not compare to 58.7%. ~40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Diagonal, then the 3–4% far errors. ~35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Application, not motivation. Simulation, not a live cluster. ~40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Payoff. 4 buckets take 60% of oracle, 8 buckets take 72%. ~50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Honest close. Starvation is real. ~30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hypotheses, three numbers. ~30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Stop. Wait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1417320"/>
            <a:ext cx="1234440" cy="64008"/>
          </a:xfrm>
          <a:prstGeom prst="rect">
            <a:avLst/>
          </a:prstGeom>
          <a:solidFill>
            <a:srgbClr val="6DA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11155680" cy="123444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  <a:ea typeface="Calibri"/>
              </a:rPr>
              <a:t>Predicting the Length of an LLM Answer
from the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0"/>
            <a:ext cx="1115568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800" b="0" i="0">
                <a:solidFill>
                  <a:srgbClr val="6DA7EC"/>
                </a:solidFill>
                <a:latin typeface="Calibri"/>
                <a:ea typeface="Calibri"/>
              </a:rPr>
              <a:t>Can the prompt tell us how long the answer will be?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09160"/>
            <a:ext cx="1115568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  <a:ea typeface="Calibri"/>
              </a:rPr>
              <a:t>Gal Mund  ·  322544297          Nadav Grossman  ·  315111880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074920"/>
            <a:ext cx="11155680" cy="29260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400" b="0" i="0">
                <a:solidFill>
                  <a:srgbClr val="B7C9E3"/>
                </a:solidFill>
                <a:latin typeface="Calibri"/>
                <a:ea typeface="Calibri"/>
              </a:rPr>
              <a:t>CS Workshop  ·  Tel Aviv University  · 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8686800" cy="25603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l"/>
            <a:r>
              <a:rPr sz="1100" b="0" i="0">
                <a:solidFill>
                  <a:srgbClr val="B7C9E3"/>
                </a:solidFill>
                <a:latin typeface="Calibri"/>
                <a:ea typeface="Calibri"/>
              </a:rPr>
              <a:t>CS Workshop  ·  Tel Aviv University  ·  Gal Mund &amp; Nadav Grossman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r"/>
            <a:r>
              <a:rPr sz="1100" b="0" i="0">
                <a:solidFill>
                  <a:srgbClr val="B7C9E3"/>
                </a:solidFill>
                <a:latin typeface="Calibri"/>
                <a:ea typeface="Calibri"/>
              </a:rPr>
              <a:t>1  / 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200" b="1" i="0">
                <a:solidFill>
                  <a:srgbClr val="256ABF"/>
                </a:solidFill>
                <a:latin typeface="Calibri"/>
                <a:ea typeface="Calibri"/>
              </a:rPr>
              <a:t>01  · 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7548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2600" b="1" i="0">
                <a:solidFill>
                  <a:srgbClr val="0D366B"/>
                </a:solidFill>
                <a:latin typeface="Calibri"/>
                <a:ea typeface="Calibri"/>
              </a:rPr>
              <a:t>Can we predict answer length from the prompt alone?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1115568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128016" cy="1353312"/>
          </a:xfrm>
          <a:prstGeom prst="rect">
            <a:avLst/>
          </a:prstGeom>
          <a:solidFill>
            <a:srgbClr val="86B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35608"/>
            <a:ext cx="10515600" cy="38404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2200" b="1" i="0">
                <a:solidFill>
                  <a:srgbClr val="0D366B"/>
                </a:solidFill>
                <a:latin typeface="Calibri"/>
                <a:ea typeface="Calibri"/>
              </a:rPr>
              <a:t>We see the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92808"/>
            <a:ext cx="10515600" cy="45720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600" b="0" i="0">
                <a:solidFill>
                  <a:srgbClr val="52514E"/>
                </a:solidFill>
                <a:latin typeface="Calibri"/>
                <a:ea typeface="Calibri"/>
              </a:rPr>
              <a:t>Not the answer, and not the model’s hidden state.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743200"/>
            <a:ext cx="1115568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743200"/>
            <a:ext cx="128016" cy="1353312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944368"/>
            <a:ext cx="10515600" cy="38404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2200" b="1" i="0">
                <a:solidFill>
                  <a:srgbClr val="0D366B"/>
                </a:solidFill>
                <a:latin typeface="Calibri"/>
                <a:ea typeface="Calibri"/>
              </a:rPr>
              <a:t>Length varies a 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01568"/>
            <a:ext cx="10515600" cy="45720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600" b="0" i="0">
                <a:solidFill>
                  <a:srgbClr val="52514E"/>
                </a:solidFill>
                <a:latin typeface="Calibri"/>
                <a:ea typeface="Calibri"/>
              </a:rPr>
              <a:t>Tens of tokens for one request, thousands for the next.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251960"/>
            <a:ext cx="1115568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4251960"/>
            <a:ext cx="128016" cy="1353312"/>
          </a:xfrm>
          <a:prstGeom prst="rect">
            <a:avLst/>
          </a:prstGeom>
          <a:solidFill>
            <a:srgbClr val="256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453128"/>
            <a:ext cx="10515600" cy="38404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2200" b="1" i="0">
                <a:solidFill>
                  <a:srgbClr val="0D366B"/>
                </a:solidFill>
                <a:latin typeface="Calibri"/>
                <a:ea typeface="Calibri"/>
              </a:rPr>
              <a:t>Is the signal in the text?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910328"/>
            <a:ext cx="10515600" cy="45720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600" b="0" i="0">
                <a:solidFill>
                  <a:srgbClr val="52514E"/>
                </a:solidFill>
                <a:latin typeface="Calibri"/>
                <a:ea typeface="Calibri"/>
              </a:rPr>
              <a:t>If it is, a small encoder should beat chance.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65392"/>
            <a:ext cx="8686800" cy="25603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l"/>
            <a:r>
              <a:rPr sz="1100" b="0" i="0">
                <a:solidFill>
                  <a:srgbClr val="898781"/>
                </a:solidFill>
                <a:latin typeface="Calibri"/>
                <a:ea typeface="Calibri"/>
              </a:rPr>
              <a:t>CS Workshop  ·  Tel Aviv University  ·  Gal Mund &amp; Nadav Grossman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r"/>
            <a:r>
              <a:rPr sz="1100" b="0" i="0">
                <a:solidFill>
                  <a:srgbClr val="898781"/>
                </a:solidFill>
                <a:latin typeface="Calibri"/>
                <a:ea typeface="Calibri"/>
              </a:rPr>
              <a:t>2  / 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200" b="1" i="0">
                <a:solidFill>
                  <a:srgbClr val="256ABF"/>
                </a:solidFill>
                <a:latin typeface="Calibri"/>
                <a:ea typeface="Calibri"/>
              </a:rPr>
              <a:t>01  · 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7548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2600" b="1" i="0">
                <a:solidFill>
                  <a:srgbClr val="0D366B"/>
                </a:solidFill>
                <a:latin typeface="Calibri"/>
                <a:ea typeface="Calibri"/>
              </a:rPr>
              <a:t>We predict a range, not an exact count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70432"/>
            <a:ext cx="111556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800" b="1" i="0">
                <a:solidFill>
                  <a:srgbClr val="0D366B"/>
                </a:solidFill>
                <a:latin typeface="Calibri"/>
                <a:ea typeface="Calibri"/>
              </a:rPr>
              <a:t>Exact token counts are noisy — sampling changes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10698480" cy="50292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600" b="0" i="0">
                <a:solidFill>
                  <a:srgbClr val="52514E"/>
                </a:solidFill>
                <a:latin typeface="Calibri"/>
                <a:ea typeface="Calibri"/>
              </a:rPr>
              <a:t>Four equal-sized buckets. Prompt length alone is a weak cue (r = 0.10).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880360"/>
            <a:ext cx="2697480" cy="2240280"/>
          </a:xfrm>
          <a:prstGeom prst="roundRect">
            <a:avLst>
              <a:gd name="adj" fmla="val 8000"/>
            </a:avLst>
          </a:prstGeom>
          <a:solidFill>
            <a:srgbClr val="86B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3154680"/>
            <a:ext cx="2697480" cy="45720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</a:rPr>
              <a:t>Short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49039"/>
            <a:ext cx="269748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  <a:ea typeface="Calibri"/>
              </a:rPr>
              <a:t>0 – 229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06240"/>
            <a:ext cx="269748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ctr"/>
            <a:r>
              <a:rPr sz="1400" b="0" i="0">
                <a:solidFill>
                  <a:srgbClr val="E8F1FB"/>
                </a:solidFill>
                <a:latin typeface="Calibri"/>
                <a:ea typeface="Calibri"/>
              </a:rPr>
              <a:t>mean 90 tokens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2880360"/>
            <a:ext cx="2697480" cy="2240280"/>
          </a:xfrm>
          <a:prstGeom prst="roundRect">
            <a:avLst>
              <a:gd name="adj" fmla="val 8000"/>
            </a:avLst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64992" y="3154680"/>
            <a:ext cx="2697480" cy="45720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</a:rPr>
              <a:t>Medium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3749039"/>
            <a:ext cx="269748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  <a:ea typeface="Calibri"/>
              </a:rPr>
              <a:t>230 – 418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4992" y="4206240"/>
            <a:ext cx="269748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ctr"/>
            <a:r>
              <a:rPr sz="1400" b="0" i="0">
                <a:solidFill>
                  <a:srgbClr val="E8F1FB"/>
                </a:solidFill>
                <a:latin typeface="Calibri"/>
                <a:ea typeface="Calibri"/>
              </a:rPr>
              <a:t>mean 338 tokens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7064" y="2880360"/>
            <a:ext cx="2697480" cy="2240280"/>
          </a:xfrm>
          <a:prstGeom prst="roundRect">
            <a:avLst>
              <a:gd name="adj" fmla="val 8000"/>
            </a:avLst>
          </a:prstGeom>
          <a:solidFill>
            <a:srgbClr val="256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27064" y="3154680"/>
            <a:ext cx="2697480" cy="45720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</a:rPr>
              <a:t>Long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3749039"/>
            <a:ext cx="269748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  <a:ea typeface="Calibri"/>
              </a:rPr>
              <a:t>419 – 592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7064" y="4206240"/>
            <a:ext cx="269748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ctr"/>
            <a:r>
              <a:rPr sz="1400" b="0" i="0">
                <a:solidFill>
                  <a:srgbClr val="E8F1FB"/>
                </a:solidFill>
                <a:latin typeface="Calibri"/>
                <a:ea typeface="Calibri"/>
              </a:rPr>
              <a:t>mean 496 tokens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89136" y="2880360"/>
            <a:ext cx="2697480" cy="2240280"/>
          </a:xfrm>
          <a:prstGeom prst="roundRect">
            <a:avLst>
              <a:gd name="adj" fmla="val 8000"/>
            </a:avLst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89136" y="3154680"/>
            <a:ext cx="2697480" cy="45720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</a:rPr>
              <a:t>Very long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3749039"/>
            <a:ext cx="269748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  <a:ea typeface="Calibri"/>
              </a:rPr>
              <a:t>593+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89136" y="4206240"/>
            <a:ext cx="269748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ctr"/>
            <a:r>
              <a:rPr sz="1400" b="0" i="0">
                <a:solidFill>
                  <a:srgbClr val="E8F1FB"/>
                </a:solidFill>
                <a:latin typeface="Calibri"/>
                <a:ea typeface="Calibri"/>
              </a:rPr>
              <a:t>mean 867 tokens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349240"/>
            <a:ext cx="1115568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400" b="0" i="0">
                <a:solidFill>
                  <a:srgbClr val="52514E"/>
                </a:solidFill>
                <a:latin typeface="Calibri"/>
                <a:ea typeface="Calibri"/>
              </a:rPr>
              <a:t>Later, the cloud model splits the same range into eight octiles.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65392"/>
            <a:ext cx="8686800" cy="25603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l"/>
            <a:r>
              <a:rPr sz="1100" b="0" i="0">
                <a:solidFill>
                  <a:srgbClr val="898781"/>
                </a:solidFill>
                <a:latin typeface="Calibri"/>
                <a:ea typeface="Calibri"/>
              </a:rPr>
              <a:t>CS Workshop  ·  Tel Aviv University  ·  Gal Mund &amp; Nadav Grossman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r"/>
            <a:r>
              <a:rPr sz="1100" b="0" i="0">
                <a:solidFill>
                  <a:srgbClr val="898781"/>
                </a:solidFill>
                <a:latin typeface="Calibri"/>
                <a:ea typeface="Calibri"/>
              </a:rPr>
              <a:t>3  / 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200" b="1" i="0">
                <a:solidFill>
                  <a:srgbClr val="256ABF"/>
                </a:solidFill>
                <a:latin typeface="Calibri"/>
                <a:ea typeface="Calibri"/>
              </a:rPr>
              <a:t>01  · 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7548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2600" b="1" i="0">
                <a:solidFill>
                  <a:srgbClr val="0D366B"/>
                </a:solidFill>
                <a:latin typeface="Calibri"/>
                <a:ea typeface="Calibri"/>
              </a:rPr>
              <a:t>Related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5623560" cy="21762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516636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2000" b="1" i="0">
                <a:solidFill>
                  <a:srgbClr val="0D366B"/>
                </a:solidFill>
                <a:latin typeface="Calibri"/>
                <a:ea typeface="Calibri"/>
              </a:rPr>
              <a:t>Ask the 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5166360" cy="29260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400" b="0" i="1">
                <a:solidFill>
                  <a:srgbClr val="256ABF"/>
                </a:solidFill>
                <a:latin typeface="Calibri"/>
                <a:ea typeface="Calibri"/>
              </a:rPr>
              <a:t>Zheng et al., 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166360" cy="73152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600" b="0" i="0">
                <a:solidFill>
                  <a:srgbClr val="52514E"/>
                </a:solidFill>
                <a:latin typeface="Calibri"/>
                <a:ea typeface="Calibri"/>
              </a:rPr>
              <a:t>The answering model guesses its own length first.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188720"/>
            <a:ext cx="5623560" cy="21762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59" y="1444752"/>
            <a:ext cx="516636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2000" b="1" i="0">
                <a:solidFill>
                  <a:srgbClr val="0D366B"/>
                </a:solidFill>
                <a:latin typeface="Calibri"/>
                <a:ea typeface="Calibri"/>
              </a:rPr>
              <a:t>Encoder buckets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1874519"/>
            <a:ext cx="5166360" cy="29260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400" b="0" i="1">
                <a:solidFill>
                  <a:srgbClr val="256ABF"/>
                </a:solidFill>
                <a:latin typeface="Calibri"/>
                <a:ea typeface="Calibri"/>
              </a:rPr>
              <a:t>S³ · SSJF · Arango et 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2286000"/>
            <a:ext cx="5166360" cy="73152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600" b="0" i="0">
                <a:solidFill>
                  <a:srgbClr val="52514E"/>
                </a:solidFill>
                <a:latin typeface="Calibri"/>
                <a:ea typeface="Calibri"/>
              </a:rPr>
              <a:t>A small encoder predicts buckets or a token count.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520439"/>
            <a:ext cx="5623560" cy="21762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776472"/>
            <a:ext cx="516636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2000" b="1" i="0">
                <a:solidFill>
                  <a:srgbClr val="0D366B"/>
                </a:solidFill>
                <a:latin typeface="Calibri"/>
                <a:ea typeface="Calibri"/>
              </a:rPr>
              <a:t>Update while decoding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5166360" cy="29260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400" b="0" i="1">
                <a:solidFill>
                  <a:srgbClr val="256ABF"/>
                </a:solidFill>
                <a:latin typeface="Calibri"/>
                <a:ea typeface="Calibri"/>
              </a:rPr>
              <a:t>TRAIL,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17720"/>
            <a:ext cx="5166360" cy="73152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600" b="0" i="0">
                <a:solidFill>
                  <a:srgbClr val="52514E"/>
                </a:solidFill>
                <a:latin typeface="Calibri"/>
                <a:ea typeface="Calibri"/>
              </a:rPr>
              <a:t>The prediction is refined after each generated token.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520439"/>
            <a:ext cx="5623560" cy="2176272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184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59" y="3776472"/>
            <a:ext cx="516636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2000" b="1" i="0">
                <a:solidFill>
                  <a:srgbClr val="0D366B"/>
                </a:solidFill>
                <a:latin typeface="Calibri"/>
                <a:ea typeface="Calibri"/>
              </a:rPr>
              <a:t>This 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4206240"/>
            <a:ext cx="5166360" cy="29260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400" b="0" i="1">
                <a:solidFill>
                  <a:srgbClr val="256ABF"/>
                </a:solidFill>
                <a:latin typeface="Calibri"/>
                <a:ea typeface="Calibri"/>
              </a:rPr>
              <a:t>Prompt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4617720"/>
            <a:ext cx="5166360" cy="73152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600" b="0" i="0">
                <a:solidFill>
                  <a:srgbClr val="52514E"/>
                </a:solidFill>
                <a:latin typeface="Calibri"/>
                <a:ea typeface="Calibri"/>
              </a:rPr>
              <a:t>Four or eight buckets from the prompt. Nothing is generated first.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65392"/>
            <a:ext cx="8686800" cy="25603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l"/>
            <a:r>
              <a:rPr sz="1100" b="0" i="0">
                <a:solidFill>
                  <a:srgbClr val="898781"/>
                </a:solidFill>
                <a:latin typeface="Calibri"/>
                <a:ea typeface="Calibri"/>
              </a:rPr>
              <a:t>CS Workshop  ·  Tel Aviv University  ·  Gal Mund &amp; Nadav Grossman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r"/>
            <a:r>
              <a:rPr sz="1100" b="0" i="0">
                <a:solidFill>
                  <a:srgbClr val="898781"/>
                </a:solidFill>
                <a:latin typeface="Calibri"/>
                <a:ea typeface="Calibri"/>
              </a:rPr>
              <a:t>4  / 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200" b="1" i="0">
                <a:solidFill>
                  <a:srgbClr val="256ABF"/>
                </a:solidFill>
                <a:latin typeface="Calibri"/>
                <a:ea typeface="Calibri"/>
              </a:rPr>
              <a:t>02  · 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7548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2600" b="1" i="0">
                <a:solidFill>
                  <a:srgbClr val="0D366B"/>
                </a:solidFill>
                <a:latin typeface="Calibri"/>
                <a:ea typeface="Calibri"/>
              </a:rPr>
              <a:t>How we ran the experiment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2651760" cy="29260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ctr"/>
            <a:r>
              <a:rPr sz="1400" b="1" i="0">
                <a:solidFill>
                  <a:srgbClr val="184F95"/>
                </a:solidFill>
                <a:latin typeface="Calibri"/>
                <a:ea typeface="Calibri"/>
              </a:rPr>
              <a:t>01  Download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64208"/>
            <a:ext cx="265176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ctr"/>
            <a:r>
              <a:rPr sz="1400" b="0" i="0">
                <a:solidFill>
                  <a:srgbClr val="52514E"/>
                </a:solidFill>
                <a:latin typeface="Calibri"/>
                <a:ea typeface="Calibri"/>
              </a:rPr>
              <a:t>WildChat-1M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72968" y="1645920"/>
            <a:ext cx="182880" cy="146304"/>
          </a:xfrm>
          <a:prstGeom prst="rightArrow">
            <a:avLst/>
          </a:prstGeom>
          <a:solidFill>
            <a:srgbClr val="6DA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83280" y="123444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1353312"/>
            <a:ext cx="2651760" cy="29260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ctr"/>
            <a:r>
              <a:rPr sz="1400" b="1" i="0">
                <a:solidFill>
                  <a:srgbClr val="184F95"/>
                </a:solidFill>
                <a:latin typeface="Calibri"/>
                <a:ea typeface="Calibri"/>
              </a:rPr>
              <a:t>02  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664208"/>
            <a:ext cx="265176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ctr"/>
            <a:r>
              <a:rPr sz="1400" b="0" i="0">
                <a:solidFill>
                  <a:srgbClr val="52514E"/>
                </a:solidFill>
                <a:latin typeface="Calibri"/>
                <a:ea typeface="Calibri"/>
              </a:rPr>
              <a:t>English, single-turn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53328" y="1645920"/>
            <a:ext cx="182880" cy="146304"/>
          </a:xfrm>
          <a:prstGeom prst="rightArrow">
            <a:avLst/>
          </a:prstGeom>
          <a:solidFill>
            <a:srgbClr val="6DA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63640" y="123444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1353312"/>
            <a:ext cx="2651760" cy="29260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ctr"/>
            <a:r>
              <a:rPr sz="1400" b="1" i="0">
                <a:solidFill>
                  <a:srgbClr val="184F95"/>
                </a:solidFill>
                <a:latin typeface="Calibri"/>
                <a:ea typeface="Calibri"/>
              </a:rPr>
              <a:t>03  Label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664208"/>
            <a:ext cx="265176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ctr"/>
            <a:r>
              <a:rPr sz="1400" b="0" i="0">
                <a:solidFill>
                  <a:srgbClr val="52514E"/>
                </a:solidFill>
                <a:latin typeface="Calibri"/>
                <a:ea typeface="Calibri"/>
              </a:rPr>
              <a:t>Answer token count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933688" y="1645920"/>
            <a:ext cx="182880" cy="146304"/>
          </a:xfrm>
          <a:prstGeom prst="rightArrow">
            <a:avLst/>
          </a:prstGeom>
          <a:solidFill>
            <a:srgbClr val="6DA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144000" y="123444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0" y="1353312"/>
            <a:ext cx="2651760" cy="29260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ctr"/>
            <a:r>
              <a:rPr sz="1400" b="1" i="0">
                <a:solidFill>
                  <a:srgbClr val="184F95"/>
                </a:solidFill>
                <a:latin typeface="Calibri"/>
                <a:ea typeface="Calibri"/>
              </a:rPr>
              <a:t>04  Split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1664208"/>
            <a:ext cx="265176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ctr"/>
            <a:r>
              <a:rPr sz="1400" b="0" i="0">
                <a:solidFill>
                  <a:srgbClr val="52514E"/>
                </a:solidFill>
                <a:latin typeface="Calibri"/>
                <a:ea typeface="Calibri"/>
              </a:rPr>
              <a:t>70 / 15 / 15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560320"/>
            <a:ext cx="56235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2560320"/>
            <a:ext cx="5623560" cy="109728"/>
          </a:xfrm>
          <a:prstGeom prst="rect">
            <a:avLst/>
          </a:prstGeom>
          <a:solidFill>
            <a:srgbClr val="6DA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2816352"/>
            <a:ext cx="5257800" cy="329184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800" b="1" i="0">
                <a:solidFill>
                  <a:srgbClr val="0D366B"/>
                </a:solidFill>
                <a:latin typeface="Calibri"/>
                <a:ea typeface="Calibri"/>
              </a:rPr>
              <a:t>Local  ·  DistilBERT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246120"/>
            <a:ext cx="5257800" cy="118872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600" b="0" i="0">
                <a:solidFill>
                  <a:srgbClr val="52514E"/>
                </a:solidFill>
                <a:latin typeface="Calibri"/>
                <a:ea typeface="Calibri"/>
              </a:rPr>
              <a:t>66M parameters  ·  256-token context
4 buckets  ·  Apple M4 Pro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256032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60" y="2560320"/>
            <a:ext cx="5349240" cy="109728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2816352"/>
            <a:ext cx="4983480" cy="329184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800" b="1" i="0">
                <a:solidFill>
                  <a:srgbClr val="0D366B"/>
                </a:solidFill>
                <a:latin typeface="Calibri"/>
                <a:ea typeface="Calibri"/>
              </a:rPr>
              <a:t>Cloud  ·  ModernBERT-large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246120"/>
            <a:ext cx="4983480" cy="118872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600" b="0" i="0">
                <a:solidFill>
                  <a:srgbClr val="52514E"/>
                </a:solidFill>
                <a:latin typeface="Calibri"/>
                <a:ea typeface="Calibri"/>
              </a:rPr>
              <a:t>395M parameters  ·  2,048-token context
8 buckets  ·  NVIDIA L40S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937760"/>
            <a:ext cx="11155680" cy="105156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5074920"/>
            <a:ext cx="10789920" cy="777240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l"/>
            <a:r>
              <a:rPr sz="1800" b="0" i="0">
                <a:solidFill>
                  <a:srgbClr val="0D366B"/>
                </a:solidFill>
                <a:latin typeface="Calibri"/>
                <a:ea typeface="Calibri"/>
              </a:rPr>
              <a:t>Same 210k training prompts. Same 45k test set. Two classifiers.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65392"/>
            <a:ext cx="8686800" cy="25603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l"/>
            <a:r>
              <a:rPr sz="1100" b="0" i="0">
                <a:solidFill>
                  <a:srgbClr val="898781"/>
                </a:solidFill>
                <a:latin typeface="Calibri"/>
                <a:ea typeface="Calibri"/>
              </a:rPr>
              <a:t>CS Workshop  ·  Tel Aviv University  ·  Gal Mund &amp; Nadav Grossman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r"/>
            <a:r>
              <a:rPr sz="1100" b="0" i="0">
                <a:solidFill>
                  <a:srgbClr val="898781"/>
                </a:solidFill>
                <a:latin typeface="Calibri"/>
                <a:ea typeface="Calibri"/>
              </a:rPr>
              <a:t>5  / 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200" b="1" i="0">
                <a:solidFill>
                  <a:srgbClr val="256ABF"/>
                </a:solidFill>
                <a:latin typeface="Calibri"/>
                <a:ea typeface="Calibri"/>
              </a:rPr>
              <a:t>02  · 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7548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2600" b="1" i="0">
                <a:solidFill>
                  <a:srgbClr val="0D366B"/>
                </a:solidFill>
                <a:latin typeface="Calibri"/>
                <a:ea typeface="Calibri"/>
              </a:rPr>
              <a:t>300,000 real ChatGPT conversations</a:t>
            </a:r>
          </a:p>
        </p:txBody>
      </p:sp>
      <p:pic>
        <p:nvPicPr>
          <p:cNvPr id="6" name="Picture 5" descr="fig1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78992"/>
            <a:ext cx="7452360" cy="331425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01000" y="1115568"/>
            <a:ext cx="3657600" cy="11521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83879" y="1188720"/>
            <a:ext cx="329184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2000" b="1" i="0">
                <a:solidFill>
                  <a:srgbClr val="0D366B"/>
                </a:solidFill>
                <a:latin typeface="Calibri"/>
                <a:ea typeface="Calibri"/>
              </a:rPr>
              <a:t>300,000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1572768"/>
            <a:ext cx="3291840" cy="56692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  <a:ea typeface="Calibri"/>
              </a:rPr>
              <a:t>English, single-turn
WildChat examples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2377439"/>
            <a:ext cx="3657600" cy="11521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83879" y="2450591"/>
            <a:ext cx="329184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2000" b="1" i="0">
                <a:solidFill>
                  <a:srgbClr val="0D366B"/>
                </a:solidFill>
                <a:latin typeface="Calibri"/>
                <a:ea typeface="Calibri"/>
              </a:rPr>
              <a:t>70 / 15 /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834639"/>
            <a:ext cx="3291840" cy="56692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  <a:ea typeface="Calibri"/>
              </a:rPr>
              <a:t>Train / val / test
210k · 45k · 45k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3639311"/>
            <a:ext cx="3657600" cy="11521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79" y="3712463"/>
            <a:ext cx="329184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2000" b="1" i="0">
                <a:solidFill>
                  <a:srgbClr val="0D366B"/>
                </a:solidFill>
                <a:latin typeface="Calibri"/>
                <a:ea typeface="Calibri"/>
              </a:rPr>
              <a:t>r = 0.10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4096511"/>
            <a:ext cx="3291840" cy="56692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  <a:ea typeface="Calibri"/>
              </a:rPr>
              <a:t>Prompt vs answer length
(0.34 on log counts)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07492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5074920"/>
            <a:ext cx="109728" cy="1234440"/>
          </a:xfrm>
          <a:prstGeom prst="rect">
            <a:avLst/>
          </a:prstGeom>
          <a:solidFill>
            <a:srgbClr val="86B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" y="5120640"/>
            <a:ext cx="242316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100" b="1" i="0">
                <a:solidFill>
                  <a:srgbClr val="86B6EF"/>
                </a:solidFill>
                <a:latin typeface="Calibri"/>
                <a:ea typeface="Calibri"/>
              </a:rPr>
              <a:t>SHORT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5376672"/>
            <a:ext cx="2423160" cy="53035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100" b="0" i="1">
                <a:solidFill>
                  <a:srgbClr val="52514E"/>
                </a:solidFill>
                <a:latin typeface="Calibri"/>
                <a:ea typeface="Calibri"/>
              </a:rPr>
              <a:t>“Create image with Cursed Refaund”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5925312"/>
            <a:ext cx="242316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200" b="1" i="0">
                <a:solidFill>
                  <a:srgbClr val="0D366B"/>
                </a:solidFill>
                <a:latin typeface="Calibri"/>
                <a:ea typeface="Calibri"/>
              </a:rPr>
              <a:t>answer  ·  18 tokens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64992" y="507492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364992" y="5074920"/>
            <a:ext cx="109728" cy="123444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66160" y="5120640"/>
            <a:ext cx="242316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100" b="1" i="0">
                <a:solidFill>
                  <a:srgbClr val="3987E5"/>
                </a:solidFill>
                <a:latin typeface="Calibri"/>
                <a:ea typeface="Calibri"/>
              </a:rPr>
              <a:t>MEDIUM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5376672"/>
            <a:ext cx="2423160" cy="53035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100" b="0" i="1">
                <a:solidFill>
                  <a:srgbClr val="52514E"/>
                </a:solidFill>
                <a:latin typeface="Calibri"/>
                <a:ea typeface="Calibri"/>
              </a:rPr>
              <a:t>“how to make my music sound more 80s”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5925312"/>
            <a:ext cx="242316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200" b="1" i="0">
                <a:solidFill>
                  <a:srgbClr val="0D366B"/>
                </a:solidFill>
                <a:latin typeface="Calibri"/>
                <a:ea typeface="Calibri"/>
              </a:rPr>
              <a:t>answer  ·  281 tokens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7064" y="507492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27064" y="5074920"/>
            <a:ext cx="109728" cy="1234440"/>
          </a:xfrm>
          <a:prstGeom prst="rect">
            <a:avLst/>
          </a:prstGeom>
          <a:solidFill>
            <a:srgbClr val="256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2" y="5120640"/>
            <a:ext cx="242316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100" b="1" i="0">
                <a:solidFill>
                  <a:srgbClr val="256ABF"/>
                </a:solidFill>
                <a:latin typeface="Calibri"/>
                <a:ea typeface="Calibri"/>
              </a:rPr>
              <a:t>LONG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5376672"/>
            <a:ext cx="2423160" cy="53035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100" b="0" i="1">
                <a:solidFill>
                  <a:srgbClr val="52514E"/>
                </a:solidFill>
                <a:latin typeface="Calibri"/>
                <a:ea typeface="Calibri"/>
              </a:rPr>
              <a:t>“Problems of integration of ICT in school”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2" y="5925312"/>
            <a:ext cx="242316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200" b="1" i="0">
                <a:solidFill>
                  <a:srgbClr val="0D366B"/>
                </a:solidFill>
                <a:latin typeface="Calibri"/>
                <a:ea typeface="Calibri"/>
              </a:rPr>
              <a:t>answer  ·  497 tokens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89136" y="507492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089136" y="5074920"/>
            <a:ext cx="109728" cy="1234440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90304" y="5120640"/>
            <a:ext cx="242316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100" b="1" i="0">
                <a:solidFill>
                  <a:srgbClr val="104281"/>
                </a:solidFill>
                <a:latin typeface="Calibri"/>
                <a:ea typeface="Calibri"/>
              </a:rPr>
              <a:t>VERY LONG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0304" y="5376672"/>
            <a:ext cx="2423160" cy="53035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100" b="0" i="1">
                <a:solidFill>
                  <a:srgbClr val="52514E"/>
                </a:solidFill>
                <a:latin typeface="Calibri"/>
                <a:ea typeface="Calibri"/>
              </a:rPr>
              <a:t>“Type an essay on Singapore for me”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90304" y="5925312"/>
            <a:ext cx="242316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200" b="1" i="0">
                <a:solidFill>
                  <a:srgbClr val="0D366B"/>
                </a:solidFill>
                <a:latin typeface="Calibri"/>
                <a:ea typeface="Calibri"/>
              </a:rPr>
              <a:t>answer  ·  785 tokens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65392"/>
            <a:ext cx="8686800" cy="25603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l"/>
            <a:r>
              <a:rPr sz="1100" b="0" i="0">
                <a:solidFill>
                  <a:srgbClr val="898781"/>
                </a:solidFill>
                <a:latin typeface="Calibri"/>
                <a:ea typeface="Calibri"/>
              </a:rPr>
              <a:t>CS Workshop  ·  Tel Aviv University  ·  Gal Mund &amp; Nadav Grossman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r"/>
            <a:r>
              <a:rPr sz="1100" b="0" i="0">
                <a:solidFill>
                  <a:srgbClr val="898781"/>
                </a:solidFill>
                <a:latin typeface="Calibri"/>
                <a:ea typeface="Calibri"/>
              </a:rPr>
              <a:t>6  / 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200" b="1" i="0">
                <a:solidFill>
                  <a:srgbClr val="256ABF"/>
                </a:solidFill>
                <a:latin typeface="Calibri"/>
                <a:ea typeface="Calibri"/>
              </a:rPr>
              <a:t>03  ·  LOCAL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7548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2600" b="1" i="0">
                <a:solidFill>
                  <a:srgbClr val="0D366B"/>
                </a:solidFill>
                <a:latin typeface="Calibri"/>
                <a:ea typeface="Calibri"/>
              </a:rPr>
              <a:t>DistilBERT, trained locally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562356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35024"/>
            <a:ext cx="516636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200" b="1" i="0">
                <a:solidFill>
                  <a:srgbClr val="256ABF"/>
                </a:solidFill>
                <a:latin typeface="Calibri"/>
                <a:ea typeface="Calibri"/>
              </a:rPr>
              <a:t>ENCODER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5166360" cy="38404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800" b="1" i="0">
                <a:solidFill>
                  <a:srgbClr val="0D366B"/>
                </a:solidFill>
                <a:latin typeface="Calibri"/>
                <a:ea typeface="Calibri"/>
              </a:rPr>
              <a:t>DistilBERT-base-uncased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188720"/>
            <a:ext cx="562356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59" y="1335024"/>
            <a:ext cx="516636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200" b="1" i="0">
                <a:solidFill>
                  <a:srgbClr val="256ABF"/>
                </a:solidFill>
                <a:latin typeface="Calibri"/>
                <a:ea typeface="Calibri"/>
              </a:rPr>
              <a:t>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59" y="1627632"/>
            <a:ext cx="5166360" cy="38404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800" b="1" i="0">
                <a:solidFill>
                  <a:srgbClr val="0D366B"/>
                </a:solidFill>
                <a:latin typeface="Calibri"/>
                <a:ea typeface="Calibri"/>
              </a:rPr>
              <a:t>66 million parameters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59152"/>
            <a:ext cx="562356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505456"/>
            <a:ext cx="516636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200" b="1" i="0">
                <a:solidFill>
                  <a:srgbClr val="256ABF"/>
                </a:solidFill>
                <a:latin typeface="Calibri"/>
                <a:ea typeface="Calibri"/>
              </a:rPr>
              <a:t>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98064"/>
            <a:ext cx="5166360" cy="38404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800" b="1" i="0">
                <a:solidFill>
                  <a:srgbClr val="0D366B"/>
                </a:solidFill>
                <a:latin typeface="Calibri"/>
                <a:ea typeface="Calibri"/>
              </a:rPr>
              <a:t>256 tokens, truncated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2359152"/>
            <a:ext cx="562356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59" y="2505456"/>
            <a:ext cx="516636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200" b="1" i="0">
                <a:solidFill>
                  <a:srgbClr val="256ABF"/>
                </a:solidFill>
                <a:latin typeface="Calibri"/>
                <a:ea typeface="Calibri"/>
              </a:rPr>
              <a:t>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2798064"/>
            <a:ext cx="5166360" cy="38404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800" b="1" i="0">
                <a:solidFill>
                  <a:srgbClr val="0D366B"/>
                </a:solidFill>
                <a:latin typeface="Calibri"/>
                <a:ea typeface="Calibri"/>
              </a:rPr>
              <a:t>4-way classifier, cross-entropy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29584"/>
            <a:ext cx="562356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675888"/>
            <a:ext cx="516636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200" b="1" i="0">
                <a:solidFill>
                  <a:srgbClr val="256ABF"/>
                </a:solidFill>
                <a:latin typeface="Calibri"/>
                <a:ea typeface="Calibri"/>
              </a:rPr>
              <a:t>MACHINE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68496"/>
            <a:ext cx="5166360" cy="38404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800" b="1" i="0">
                <a:solidFill>
                  <a:srgbClr val="0D366B"/>
                </a:solidFill>
                <a:latin typeface="Calibri"/>
                <a:ea typeface="Calibri"/>
              </a:rPr>
              <a:t>Apple M4 Pro, batch 32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3529584"/>
            <a:ext cx="562356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59" y="3675888"/>
            <a:ext cx="516636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200" b="1" i="0">
                <a:solidFill>
                  <a:srgbClr val="256ABF"/>
                </a:solidFill>
                <a:latin typeface="Calibri"/>
                <a:ea typeface="Calibri"/>
              </a:rPr>
              <a:t>OPTIMISER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3968496"/>
            <a:ext cx="5166360" cy="38404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800" b="1" i="0">
                <a:solidFill>
                  <a:srgbClr val="0D366B"/>
                </a:solidFill>
                <a:latin typeface="Calibri"/>
                <a:ea typeface="Calibri"/>
              </a:rPr>
              <a:t>AdamW, 2×10⁻⁵, 10% warmup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700016"/>
            <a:ext cx="562356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846320"/>
            <a:ext cx="516636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200" b="1" i="0">
                <a:solidFill>
                  <a:srgbClr val="256ABF"/>
                </a:solidFill>
                <a:latin typeface="Calibri"/>
                <a:ea typeface="Calibri"/>
              </a:rPr>
              <a:t>SCHEDULE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138927"/>
            <a:ext cx="5166360" cy="38404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800" b="1" i="0">
                <a:solidFill>
                  <a:srgbClr val="0D366B"/>
                </a:solidFill>
                <a:latin typeface="Calibri"/>
                <a:ea typeface="Calibri"/>
              </a:rPr>
              <a:t>≤6 epochs, early stop on val macro-F1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59" y="4700016"/>
            <a:ext cx="562356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59" y="4846320"/>
            <a:ext cx="516636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200" b="1" i="0">
                <a:solidFill>
                  <a:srgbClr val="256ABF"/>
                </a:solidFill>
                <a:latin typeface="Calibri"/>
                <a:ea typeface="Calibri"/>
              </a:rPr>
              <a:t>BASELINES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5138927"/>
            <a:ext cx="5166360" cy="38404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800" b="1" i="0">
                <a:solidFill>
                  <a:srgbClr val="0D366B"/>
                </a:solidFill>
                <a:latin typeface="Calibri"/>
                <a:ea typeface="Calibri"/>
              </a:rPr>
              <a:t>Chance (25%) and prompt-length rule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65392"/>
            <a:ext cx="8686800" cy="25603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l"/>
            <a:r>
              <a:rPr sz="1100" b="0" i="0">
                <a:solidFill>
                  <a:srgbClr val="898781"/>
                </a:solidFill>
                <a:latin typeface="Calibri"/>
                <a:ea typeface="Calibri"/>
              </a:rPr>
              <a:t>CS Workshop  ·  Tel Aviv University  ·  Gal Mund &amp; Nadav Grossman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r"/>
            <a:r>
              <a:rPr sz="1100" b="0" i="0">
                <a:solidFill>
                  <a:srgbClr val="898781"/>
                </a:solidFill>
                <a:latin typeface="Calibri"/>
                <a:ea typeface="Calibri"/>
              </a:rPr>
              <a:t>7  / 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200" b="1" i="0">
                <a:solidFill>
                  <a:srgbClr val="256ABF"/>
                </a:solidFill>
                <a:latin typeface="Calibri"/>
                <a:ea typeface="Calibri"/>
              </a:rPr>
              <a:t>03  ·  LOCAL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7548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2600" b="1" i="0">
                <a:solidFill>
                  <a:srgbClr val="0D366B"/>
                </a:solidFill>
                <a:latin typeface="Calibri"/>
                <a:ea typeface="Calibri"/>
              </a:rPr>
              <a:t>Well above chance, and above prompt length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15568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25295"/>
            <a:ext cx="3611880" cy="43891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ctr"/>
            <a:r>
              <a:rPr sz="2600" b="1" i="0">
                <a:solidFill>
                  <a:srgbClr val="0D366B"/>
                </a:solidFill>
                <a:latin typeface="Calibri"/>
                <a:ea typeface="Calibri"/>
              </a:rPr>
              <a:t>58.7%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361188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ctr"/>
            <a:r>
              <a:rPr sz="1200" b="0" i="0">
                <a:solidFill>
                  <a:srgbClr val="52514E"/>
                </a:solidFill>
                <a:latin typeface="Calibri"/>
                <a:ea typeface="Calibri"/>
              </a:rPr>
              <a:t>accuracy  ·  chance 25%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115568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80" y="1225295"/>
            <a:ext cx="3611880" cy="43891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ctr"/>
            <a:r>
              <a:rPr sz="2600" b="1" i="0">
                <a:solidFill>
                  <a:srgbClr val="0D366B"/>
                </a:solidFill>
                <a:latin typeface="Calibri"/>
                <a:ea typeface="Calibri"/>
              </a:rPr>
              <a:t>91.2%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27632"/>
            <a:ext cx="361188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ctr"/>
            <a:r>
              <a:rPr sz="1200" b="0" i="0">
                <a:solidFill>
                  <a:srgbClr val="52514E"/>
                </a:solidFill>
                <a:latin typeface="Calibri"/>
                <a:ea typeface="Calibri"/>
              </a:rPr>
              <a:t>within one bucket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115568"/>
            <a:ext cx="3566160" cy="960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92440" y="1225295"/>
            <a:ext cx="3566160" cy="43891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ctr"/>
            <a:r>
              <a:rPr sz="2600" b="1" i="0">
                <a:solidFill>
                  <a:srgbClr val="0D366B"/>
                </a:solidFill>
                <a:latin typeface="Calibri"/>
                <a:ea typeface="Calibri"/>
              </a:rPr>
              <a:t>2.35×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1627632"/>
            <a:ext cx="356616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ctr"/>
            <a:r>
              <a:rPr sz="1200" b="0" i="0">
                <a:solidFill>
                  <a:srgbClr val="52514E"/>
                </a:solidFill>
                <a:latin typeface="Calibri"/>
                <a:ea typeface="Calibri"/>
              </a:rPr>
              <a:t>chance  ·  rule 33.1%</a:t>
            </a:r>
          </a:p>
        </p:txBody>
      </p:sp>
      <p:pic>
        <p:nvPicPr>
          <p:cNvPr id="15" name="Picture 14" descr="fig2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194560"/>
            <a:ext cx="9326880" cy="47340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" y="6565392"/>
            <a:ext cx="8686800" cy="25603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l"/>
            <a:r>
              <a:rPr sz="1100" b="0" i="0">
                <a:solidFill>
                  <a:srgbClr val="898781"/>
                </a:solidFill>
                <a:latin typeface="Calibri"/>
                <a:ea typeface="Calibri"/>
              </a:rPr>
              <a:t>CS Workshop  ·  Tel Aviv University  ·  Gal Mund &amp; Nadav Grossman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r"/>
            <a:r>
              <a:rPr sz="1100" b="0" i="0">
                <a:solidFill>
                  <a:srgbClr val="898781"/>
                </a:solidFill>
                <a:latin typeface="Calibri"/>
                <a:ea typeface="Calibri"/>
              </a:rPr>
              <a:t>8  / 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200" b="1" i="0">
                <a:solidFill>
                  <a:srgbClr val="256ABF"/>
                </a:solidFill>
                <a:latin typeface="Calibri"/>
                <a:ea typeface="Calibri"/>
              </a:rPr>
              <a:t>04  · 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7548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2600" b="1" i="0">
                <a:solidFill>
                  <a:srgbClr val="0D366B"/>
                </a:solidFill>
                <a:latin typeface="Calibri"/>
                <a:ea typeface="Calibri"/>
              </a:rPr>
              <a:t>Larger encoder, longer prompts, finer buckets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70432"/>
            <a:ext cx="70408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298448"/>
            <a:ext cx="6675120" cy="29260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600" b="1" i="0">
                <a:solidFill>
                  <a:srgbClr val="0D366B"/>
                </a:solidFill>
                <a:latin typeface="Calibri"/>
                <a:ea typeface="Calibri"/>
              </a:rPr>
              <a:t>01   Longer prompts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667512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500" b="0" i="0">
                <a:solidFill>
                  <a:srgbClr val="52514E"/>
                </a:solidFill>
                <a:latin typeface="Calibri"/>
                <a:ea typeface="Calibri"/>
              </a:rPr>
              <a:t>51% of prompts exceed 256 tokens. ModernBERT reads 2,048.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49424"/>
            <a:ext cx="70408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377440"/>
            <a:ext cx="6675120" cy="29260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600" b="1" i="0">
                <a:solidFill>
                  <a:srgbClr val="0D366B"/>
                </a:solidFill>
                <a:latin typeface="Calibri"/>
                <a:ea typeface="Calibri"/>
              </a:rPr>
              <a:t>02   Larger encoder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24912"/>
            <a:ext cx="667512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500" b="0" i="0">
                <a:solidFill>
                  <a:srgbClr val="52514E"/>
                </a:solidFill>
                <a:latin typeface="Calibri"/>
                <a:ea typeface="Calibri"/>
              </a:rPr>
              <a:t>ModernBERT-large, 395M parameters, bf16 on an L40S.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328415"/>
            <a:ext cx="70408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456432"/>
            <a:ext cx="6675120" cy="29260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600" b="1" i="0">
                <a:solidFill>
                  <a:srgbClr val="0D366B"/>
                </a:solidFill>
                <a:latin typeface="Calibri"/>
                <a:ea typeface="Calibri"/>
              </a:rPr>
              <a:t>03   Finer buckets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803904"/>
            <a:ext cx="667512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500" b="0" i="0">
                <a:solidFill>
                  <a:srgbClr val="52514E"/>
                </a:solidFill>
                <a:latin typeface="Calibri"/>
                <a:ea typeface="Calibri"/>
              </a:rPr>
              <a:t>Eight octiles instead of four quartiles.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170432"/>
            <a:ext cx="3886200" cy="3236976"/>
          </a:xfrm>
          <a:prstGeom prst="roundRect">
            <a:avLst>
              <a:gd name="adj" fmla="val 8000"/>
            </a:avLst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79" y="1353312"/>
            <a:ext cx="3520440" cy="27432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200" b="1" i="0">
                <a:solidFill>
                  <a:srgbClr val="6DA7EC"/>
                </a:solidFill>
                <a:latin typeface="Calibri"/>
                <a:ea typeface="Calibri"/>
              </a:rPr>
              <a:t>AWS  ·  TAU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1691640"/>
            <a:ext cx="352044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Calibri"/>
              </a:rPr>
              <a:t>g6e.xlarge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194560"/>
            <a:ext cx="3520440" cy="192024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500" b="0" i="0">
                <a:solidFill>
                  <a:srgbClr val="D5E4F6"/>
                </a:solidFill>
                <a:latin typeface="Calibri"/>
                <a:ea typeface="Calibri"/>
              </a:rPr>
              <a:t>NVIDIA L40S, 48 GB
eu-north-1
Train 4-way, then 8-way
Copy home, terminate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109728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600" b="0" i="0">
                <a:solidFill>
                  <a:srgbClr val="52514E"/>
                </a:solidFill>
                <a:latin typeface="Calibri"/>
                <a:ea typeface="Calibri"/>
              </a:rPr>
              <a:t>Four-way ModernBERT is 60.3%, close to DistilBERT’s 58.7%. We keep the eight-way head for finer labels, not a higher 4-way score.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65392"/>
            <a:ext cx="8686800" cy="25603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l"/>
            <a:r>
              <a:rPr sz="1100" b="0" i="0">
                <a:solidFill>
                  <a:srgbClr val="898781"/>
                </a:solidFill>
                <a:latin typeface="Calibri"/>
                <a:ea typeface="Calibri"/>
              </a:rPr>
              <a:t>CS Workshop  ·  Tel Aviv University  ·  Gal Mund &amp; Nadav Grossman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r"/>
            <a:r>
              <a:rPr sz="1100" b="0" i="0">
                <a:solidFill>
                  <a:srgbClr val="898781"/>
                </a:solidFill>
                <a:latin typeface="Calibri"/>
                <a:ea typeface="Calibri"/>
              </a:rPr>
              <a:t>9  / 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200" b="1" i="0">
                <a:solidFill>
                  <a:srgbClr val="256ABF"/>
                </a:solidFill>
                <a:latin typeface="Calibri"/>
                <a:ea typeface="Calibri"/>
              </a:rPr>
              <a:t>04  · 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7548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2600" b="1" i="0">
                <a:solidFill>
                  <a:srgbClr val="0D366B"/>
                </a:solidFill>
                <a:latin typeface="Calibri"/>
                <a:ea typeface="Calibri"/>
              </a:rPr>
              <a:t>Harder task, still far above chance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15568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25295"/>
            <a:ext cx="3611880" cy="43891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ctr"/>
            <a:r>
              <a:rPr sz="2600" b="1" i="0">
                <a:solidFill>
                  <a:srgbClr val="0D366B"/>
                </a:solidFill>
                <a:latin typeface="Calibri"/>
                <a:ea typeface="Calibri"/>
              </a:rPr>
              <a:t>43.4%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361188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ctr"/>
            <a:r>
              <a:rPr sz="1200" b="0" i="0">
                <a:solidFill>
                  <a:srgbClr val="52514E"/>
                </a:solidFill>
                <a:latin typeface="Calibri"/>
                <a:ea typeface="Calibri"/>
              </a:rPr>
              <a:t>accuracy  ·  chance 12.5%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115568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80" y="1225295"/>
            <a:ext cx="3611880" cy="43891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ctr"/>
            <a:r>
              <a:rPr sz="2600" b="1" i="0">
                <a:solidFill>
                  <a:srgbClr val="0D366B"/>
                </a:solidFill>
                <a:latin typeface="Calibri"/>
                <a:ea typeface="Calibri"/>
              </a:rPr>
              <a:t>77.0%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27632"/>
            <a:ext cx="361188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ctr"/>
            <a:r>
              <a:rPr sz="1200" b="0" i="0">
                <a:solidFill>
                  <a:srgbClr val="52514E"/>
                </a:solidFill>
                <a:latin typeface="Calibri"/>
                <a:ea typeface="Calibri"/>
              </a:rPr>
              <a:t>within one bucket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115568"/>
            <a:ext cx="3566160" cy="960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92440" y="1225295"/>
            <a:ext cx="3566160" cy="43891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ctr"/>
            <a:r>
              <a:rPr sz="2600" b="1" i="0">
                <a:solidFill>
                  <a:srgbClr val="0D366B"/>
                </a:solidFill>
                <a:latin typeface="Calibri"/>
                <a:ea typeface="Calibri"/>
              </a:rPr>
              <a:t>3.47×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1627632"/>
            <a:ext cx="356616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ctr"/>
            <a:r>
              <a:rPr sz="1200" b="0" i="0">
                <a:solidFill>
                  <a:srgbClr val="52514E"/>
                </a:solidFill>
                <a:latin typeface="Calibri"/>
                <a:ea typeface="Calibri"/>
              </a:rPr>
              <a:t>chance  ·  rule 18.4%</a:t>
            </a:r>
          </a:p>
        </p:txBody>
      </p:sp>
      <p:pic>
        <p:nvPicPr>
          <p:cNvPr id="15" name="Picture 14" descr="fig5_accuracy_8w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194560"/>
            <a:ext cx="9326880" cy="449162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" y="6565392"/>
            <a:ext cx="8686800" cy="25603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l"/>
            <a:r>
              <a:rPr sz="1100" b="0" i="0">
                <a:solidFill>
                  <a:srgbClr val="898781"/>
                </a:solidFill>
                <a:latin typeface="Calibri"/>
                <a:ea typeface="Calibri"/>
              </a:rPr>
              <a:t>CS Workshop  ·  Tel Aviv University  ·  Gal Mund &amp; Nadav Grossman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r"/>
            <a:r>
              <a:rPr sz="1100" b="0" i="0">
                <a:solidFill>
                  <a:srgbClr val="898781"/>
                </a:solidFill>
                <a:latin typeface="Calibri"/>
                <a:ea typeface="Calibri"/>
              </a:rPr>
              <a:t>10  / 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200" b="1" i="0">
                <a:solidFill>
                  <a:srgbClr val="256ABF"/>
                </a:solidFill>
                <a:latin typeface="Calibri"/>
                <a:ea typeface="Calibr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7548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2600" b="1" i="0">
                <a:solidFill>
                  <a:srgbClr val="0D366B"/>
                </a:solidFill>
                <a:latin typeface="Calibri"/>
                <a:ea typeface="Calibri"/>
              </a:rPr>
              <a:t>Most mistakes are neighbours</a:t>
            </a:r>
          </a:p>
        </p:txBody>
      </p:sp>
      <p:pic>
        <p:nvPicPr>
          <p:cNvPr id="6" name="Picture 5" descr="fig3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70432"/>
            <a:ext cx="5806440" cy="44946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37960" y="1170432"/>
            <a:ext cx="507492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20840" y="1335024"/>
            <a:ext cx="4709160" cy="34747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2000" b="1" i="0">
                <a:solidFill>
                  <a:srgbClr val="0D366B"/>
                </a:solidFill>
                <a:latin typeface="Calibri"/>
                <a:ea typeface="Calibri"/>
              </a:rPr>
              <a:t>71% / 63%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719072"/>
            <a:ext cx="4709160" cy="41148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500" b="0" i="0">
                <a:solidFill>
                  <a:srgbClr val="52514E"/>
                </a:solidFill>
                <a:latin typeface="Calibri"/>
                <a:ea typeface="Calibri"/>
              </a:rPr>
              <a:t>Short and Very long are easiest.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404872"/>
            <a:ext cx="507492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20840" y="2569464"/>
            <a:ext cx="4709160" cy="34747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2000" b="1" i="0">
                <a:solidFill>
                  <a:srgbClr val="0D366B"/>
                </a:solidFill>
                <a:latin typeface="Calibri"/>
                <a:ea typeface="Calibri"/>
              </a:rPr>
              <a:t>~50%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953512"/>
            <a:ext cx="4709160" cy="41148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500" b="0" i="0">
                <a:solidFill>
                  <a:srgbClr val="52514E"/>
                </a:solidFill>
                <a:latin typeface="Calibri"/>
                <a:ea typeface="Calibri"/>
              </a:rPr>
              <a:t>The middle two buckets are harder.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3639312"/>
            <a:ext cx="507492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20840" y="3803904"/>
            <a:ext cx="4709160" cy="34747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2000" b="1" i="0">
                <a:solidFill>
                  <a:srgbClr val="0D366B"/>
                </a:solidFill>
                <a:latin typeface="Calibri"/>
                <a:ea typeface="Calibri"/>
              </a:rPr>
              <a:t>3–4%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4187952"/>
            <a:ext cx="4709160" cy="41148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500" b="0" i="0">
                <a:solidFill>
                  <a:srgbClr val="52514E"/>
                </a:solidFill>
                <a:latin typeface="Calibri"/>
                <a:ea typeface="Calibri"/>
              </a:rPr>
              <a:t>Almost never swaps Short with Very long.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4873752"/>
            <a:ext cx="507492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20840" y="5038344"/>
            <a:ext cx="4709160" cy="34747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2000" b="1" i="0">
                <a:solidFill>
                  <a:srgbClr val="0D366B"/>
                </a:solidFill>
                <a:latin typeface="Calibri"/>
                <a:ea typeface="Calibri"/>
              </a:rPr>
              <a:t>Off by 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5422392"/>
            <a:ext cx="4709160" cy="41148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500" b="0" i="0">
                <a:solidFill>
                  <a:srgbClr val="52514E"/>
                </a:solidFill>
                <a:latin typeface="Calibri"/>
                <a:ea typeface="Calibri"/>
              </a:rPr>
              <a:t>Common. Off by three is rare.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65392"/>
            <a:ext cx="8686800" cy="25603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l"/>
            <a:r>
              <a:rPr sz="1100" b="0" i="0">
                <a:solidFill>
                  <a:srgbClr val="898781"/>
                </a:solidFill>
                <a:latin typeface="Calibri"/>
                <a:ea typeface="Calibri"/>
              </a:rPr>
              <a:t>CS Workshop  ·  Tel Aviv University  ·  Gal Mund &amp; Nadav Grossman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r"/>
            <a:r>
              <a:rPr sz="1100" b="0" i="0">
                <a:solidFill>
                  <a:srgbClr val="898781"/>
                </a:solidFill>
                <a:latin typeface="Calibri"/>
                <a:ea typeface="Calibri"/>
              </a:rPr>
              <a:t>11  / 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200" b="1" i="0">
                <a:solidFill>
                  <a:srgbClr val="256ABF"/>
                </a:solidFill>
                <a:latin typeface="Calibri"/>
                <a:ea typeface="Calibri"/>
              </a:rPr>
              <a:t>05  · 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7548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2600" b="1" i="0">
                <a:solidFill>
                  <a:srgbClr val="0D366B"/>
                </a:solidFill>
                <a:latin typeface="Calibri"/>
                <a:ea typeface="Calibri"/>
              </a:rPr>
              <a:t>One use of the signal: order a queue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115568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600" b="0" i="0">
                <a:solidFill>
                  <a:srgbClr val="52514E"/>
                </a:solidFill>
                <a:latin typeface="Calibri"/>
                <a:ea typeface="Calibri"/>
              </a:rPr>
              <a:t>If job size is known, shortest-first cuts average wait. We use the predicted bucket as the size.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21488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2148840" cy="41148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ctr"/>
            <a:r>
              <a:rPr sz="1600" b="1" i="0">
                <a:solidFill>
                  <a:srgbClr val="0D366B"/>
                </a:solidFill>
                <a:latin typeface="Calibri"/>
                <a:ea typeface="Calibri"/>
              </a:rPr>
              <a:t>FCFS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76272"/>
            <a:ext cx="214884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ctr"/>
            <a:r>
              <a:rPr sz="1300" b="0" i="0">
                <a:solidFill>
                  <a:srgbClr val="52514E"/>
                </a:solidFill>
                <a:latin typeface="Calibri"/>
                <a:ea typeface="Calibri"/>
              </a:rPr>
              <a:t>Arrival order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645920"/>
            <a:ext cx="21488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88920" y="1755648"/>
            <a:ext cx="2148840" cy="41148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ctr"/>
            <a:r>
              <a:rPr sz="1600" b="1" i="0">
                <a:solidFill>
                  <a:srgbClr val="0D366B"/>
                </a:solidFill>
                <a:latin typeface="Calibri"/>
                <a:ea typeface="Calibri"/>
              </a:rPr>
              <a:t>Shortest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176272"/>
            <a:ext cx="214884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ctr"/>
            <a:r>
              <a:rPr sz="1300" b="0" i="0">
                <a:solidFill>
                  <a:srgbClr val="52514E"/>
                </a:solidFill>
                <a:latin typeface="Calibri"/>
                <a:ea typeface="Calibri"/>
              </a:rPr>
              <a:t>Weak proxy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1645920"/>
            <a:ext cx="2148840" cy="1143000"/>
          </a:xfrm>
          <a:prstGeom prst="roundRect">
            <a:avLst>
              <a:gd name="adj" fmla="val 8000"/>
            </a:avLst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74920" y="1755648"/>
            <a:ext cx="2148840" cy="41148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Calibri"/>
              </a:rPr>
              <a:t>DistilBERT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176272"/>
            <a:ext cx="214884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ctr"/>
            <a:r>
              <a:rPr sz="1300" b="0" i="0">
                <a:solidFill>
                  <a:srgbClr val="6DA7EC"/>
                </a:solidFill>
                <a:latin typeface="Calibri"/>
                <a:ea typeface="Calibri"/>
              </a:rPr>
              <a:t>4 priorities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1645920"/>
            <a:ext cx="2148840" cy="1143000"/>
          </a:xfrm>
          <a:prstGeom prst="roundRect">
            <a:avLst>
              <a:gd name="adj" fmla="val 8000"/>
            </a:avLst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60920" y="1755648"/>
            <a:ext cx="2148840" cy="41148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Calibri"/>
              </a:rPr>
              <a:t>ModernBERT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176272"/>
            <a:ext cx="214884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ctr"/>
            <a:r>
              <a:rPr sz="1300" b="0" i="0">
                <a:solidFill>
                  <a:srgbClr val="6DA7EC"/>
                </a:solidFill>
                <a:latin typeface="Calibri"/>
                <a:ea typeface="Calibri"/>
              </a:rPr>
              <a:t>8 priorities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6920" y="1645920"/>
            <a:ext cx="21488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46920" y="1755648"/>
            <a:ext cx="2148840" cy="41148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ctr"/>
            <a:r>
              <a:rPr sz="1600" b="1" i="0">
                <a:solidFill>
                  <a:srgbClr val="0D366B"/>
                </a:solidFill>
                <a:latin typeface="Calibri"/>
                <a:ea typeface="Calibri"/>
              </a:rPr>
              <a:t>Oracle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2176272"/>
            <a:ext cx="214884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ctr"/>
            <a:r>
              <a:rPr sz="1300" b="0" i="0">
                <a:solidFill>
                  <a:srgbClr val="52514E"/>
                </a:solidFill>
                <a:latin typeface="Calibri"/>
                <a:ea typeface="Calibri"/>
              </a:rPr>
              <a:t>True lengths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017520"/>
            <a:ext cx="56235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182112"/>
            <a:ext cx="5166360" cy="27432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200" b="1" i="0">
                <a:solidFill>
                  <a:srgbClr val="256ABF"/>
                </a:solidFill>
                <a:latin typeface="Calibri"/>
                <a:ea typeface="Calibri"/>
              </a:rPr>
              <a:t>QUEUE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520439"/>
            <a:ext cx="5166360" cy="50292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600" b="0" i="0">
                <a:solidFill>
                  <a:srgbClr val="52514E"/>
                </a:solidFill>
                <a:latin typeface="Calibri"/>
                <a:ea typeface="Calibri"/>
              </a:rPr>
              <a:t>M/G/1, one server, no preemption.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59" y="3017520"/>
            <a:ext cx="56235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7959" y="3182112"/>
            <a:ext cx="5166360" cy="27432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200" b="1" i="0">
                <a:solidFill>
                  <a:srgbClr val="256ABF"/>
                </a:solidFill>
                <a:latin typeface="Calibri"/>
                <a:ea typeface="Calibri"/>
              </a:rPr>
              <a:t>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59" y="3520439"/>
            <a:ext cx="5166360" cy="50292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600" b="0" i="0">
                <a:solidFill>
                  <a:srgbClr val="52514E"/>
                </a:solidFill>
                <a:latin typeface="Calibri"/>
                <a:ea typeface="Calibri"/>
              </a:rPr>
              <a:t>0.5 s + 1 s per 50 tokens. Mean 9.45 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389120"/>
            <a:ext cx="56235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4553712"/>
            <a:ext cx="5166360" cy="27432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200" b="1" i="0">
                <a:solidFill>
                  <a:srgbClr val="256ABF"/>
                </a:solidFill>
                <a:latin typeface="Calibri"/>
                <a:ea typeface="Calibri"/>
              </a:rPr>
              <a:t>LOAD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892040"/>
            <a:ext cx="5166360" cy="50292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600" b="0" i="0">
                <a:solidFill>
                  <a:srgbClr val="52514E"/>
                </a:solidFill>
                <a:latin typeface="Calibri"/>
                <a:ea typeface="Calibri"/>
              </a:rPr>
              <a:t>ρ = 0.90.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59" y="4389120"/>
            <a:ext cx="56235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37959" y="4553712"/>
            <a:ext cx="5166360" cy="27432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200" b="1" i="0">
                <a:solidFill>
                  <a:srgbClr val="256ABF"/>
                </a:solidFill>
                <a:latin typeface="Calibri"/>
                <a:ea typeface="Calibri"/>
              </a:rPr>
              <a:t>RUNS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59" y="4892040"/>
            <a:ext cx="5166360" cy="50292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600" b="0" i="0">
                <a:solidFill>
                  <a:srgbClr val="52514E"/>
                </a:solidFill>
                <a:latin typeface="Calibri"/>
                <a:ea typeface="Calibri"/>
              </a:rPr>
              <a:t>10 × 200k requests. Same arrivals, different order.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65392"/>
            <a:ext cx="8686800" cy="25603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l"/>
            <a:r>
              <a:rPr sz="1100" b="0" i="0">
                <a:solidFill>
                  <a:srgbClr val="898781"/>
                </a:solidFill>
                <a:latin typeface="Calibri"/>
                <a:ea typeface="Calibri"/>
              </a:rPr>
              <a:t>CS Workshop  ·  Tel Aviv University  ·  Gal Mund &amp; Nadav Grossman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r"/>
            <a:r>
              <a:rPr sz="1100" b="0" i="0">
                <a:solidFill>
                  <a:srgbClr val="898781"/>
                </a:solidFill>
                <a:latin typeface="Calibri"/>
                <a:ea typeface="Calibri"/>
              </a:rPr>
              <a:t>12  / 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200" b="1" i="0">
                <a:solidFill>
                  <a:srgbClr val="256ABF"/>
                </a:solidFill>
                <a:latin typeface="Calibri"/>
                <a:ea typeface="Calibri"/>
              </a:rPr>
              <a:t>05  · 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7548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2600" b="1" i="0">
                <a:solidFill>
                  <a:srgbClr val="0D366B"/>
                </a:solidFill>
                <a:latin typeface="Calibri"/>
                <a:ea typeface="Calibri"/>
              </a:rPr>
              <a:t>Finer buckets capture more of the oracle gain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15568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25295"/>
            <a:ext cx="3611880" cy="43891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ctr"/>
            <a:r>
              <a:rPr sz="2600" b="1" i="0">
                <a:solidFill>
                  <a:srgbClr val="0D366B"/>
                </a:solidFill>
                <a:latin typeface="Calibri"/>
                <a:ea typeface="Calibri"/>
              </a:rPr>
              <a:t>−33%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361188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ctr"/>
            <a:r>
              <a:rPr sz="1200" b="0" i="0">
                <a:solidFill>
                  <a:srgbClr val="52514E"/>
                </a:solidFill>
                <a:latin typeface="Calibri"/>
                <a:ea typeface="Calibri"/>
              </a:rPr>
              <a:t>DistilBERT vs FCFS  ·  60% of oracle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115568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80" y="1225295"/>
            <a:ext cx="3611880" cy="43891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ctr"/>
            <a:r>
              <a:rPr sz="2600" b="1" i="0">
                <a:solidFill>
                  <a:srgbClr val="0D366B"/>
                </a:solidFill>
                <a:latin typeface="Calibri"/>
                <a:ea typeface="Calibri"/>
              </a:rPr>
              <a:t>−40%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27632"/>
            <a:ext cx="361188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ctr"/>
            <a:r>
              <a:rPr sz="1200" b="0" i="0">
                <a:solidFill>
                  <a:srgbClr val="52514E"/>
                </a:solidFill>
                <a:latin typeface="Calibri"/>
                <a:ea typeface="Calibri"/>
              </a:rPr>
              <a:t>ModernBERT vs FCFS  ·  72% of oracle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115568"/>
            <a:ext cx="3566160" cy="960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92440" y="1225295"/>
            <a:ext cx="3566160" cy="43891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ctr"/>
            <a:r>
              <a:rPr sz="2600" b="1" i="0">
                <a:solidFill>
                  <a:srgbClr val="0D366B"/>
                </a:solidFill>
                <a:latin typeface="Calibri"/>
                <a:ea typeface="Calibri"/>
              </a:rPr>
              <a:t>−56%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1627632"/>
            <a:ext cx="356616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ctr"/>
            <a:r>
              <a:rPr sz="1200" b="0" i="0">
                <a:solidFill>
                  <a:srgbClr val="52514E"/>
                </a:solidFill>
                <a:latin typeface="Calibri"/>
                <a:ea typeface="Calibri"/>
              </a:rPr>
              <a:t>Oracle</a:t>
            </a:r>
          </a:p>
        </p:txBody>
      </p:sp>
      <p:pic>
        <p:nvPicPr>
          <p:cNvPr id="15" name="Picture 14" descr="fig4_queue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2176272"/>
            <a:ext cx="8961120" cy="51759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" y="6565392"/>
            <a:ext cx="8686800" cy="25603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l"/>
            <a:r>
              <a:rPr sz="1100" b="0" i="0">
                <a:solidFill>
                  <a:srgbClr val="898781"/>
                </a:solidFill>
                <a:latin typeface="Calibri"/>
                <a:ea typeface="Calibri"/>
              </a:rPr>
              <a:t>CS Workshop  ·  Tel Aviv University  ·  Gal Mund &amp; Nadav Grossman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r"/>
            <a:r>
              <a:rPr sz="1100" b="0" i="0">
                <a:solidFill>
                  <a:srgbClr val="898781"/>
                </a:solidFill>
                <a:latin typeface="Calibri"/>
                <a:ea typeface="Calibri"/>
              </a:rPr>
              <a:t>13  / 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200" b="1" i="0">
                <a:solidFill>
                  <a:srgbClr val="256ABF"/>
                </a:solidFill>
                <a:latin typeface="Calibri"/>
                <a:ea typeface="Calibri"/>
              </a:rPr>
              <a:t>06  · 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7548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2600" b="1" i="0">
                <a:solidFill>
                  <a:srgbClr val="0D366B"/>
                </a:solidFill>
                <a:latin typeface="Calibri"/>
                <a:ea typeface="Calibri"/>
              </a:rPr>
              <a:t>Limits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5623560" cy="21762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5166360" cy="38404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2200" b="1" i="0">
                <a:solidFill>
                  <a:srgbClr val="0D366B"/>
                </a:solidFill>
                <a:latin typeface="Calibri"/>
                <a:ea typeface="Calibri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5166360" cy="109728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600" b="0" i="0">
                <a:solidFill>
                  <a:srgbClr val="52514E"/>
                </a:solidFill>
                <a:latin typeface="Calibri"/>
                <a:ea typeface="Calibri"/>
              </a:rPr>
              <a:t>English, single-turn WildChat. Six GPT-3.5 / GPT-4 snapshots, not one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188720"/>
            <a:ext cx="5623560" cy="21762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59" y="1444752"/>
            <a:ext cx="5166360" cy="38404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2200" b="1" i="0">
                <a:solidFill>
                  <a:srgbClr val="0D366B"/>
                </a:solidFill>
                <a:latin typeface="Calibri"/>
                <a:ea typeface="Calibri"/>
              </a:rPr>
              <a:t>Leakage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59" y="1965960"/>
            <a:ext cx="5166360" cy="109728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600" b="0" i="0">
                <a:solidFill>
                  <a:srgbClr val="52514E"/>
                </a:solidFill>
                <a:latin typeface="Calibri"/>
                <a:ea typeface="Calibri"/>
              </a:rPr>
              <a:t>10,296 test prompts also appear in training.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520439"/>
            <a:ext cx="5623560" cy="21762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776472"/>
            <a:ext cx="5166360" cy="38404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2200" b="1" i="0">
                <a:solidFill>
                  <a:srgbClr val="0D366B"/>
                </a:solidFill>
                <a:latin typeface="Calibri"/>
                <a:ea typeface="Calibri"/>
              </a:rPr>
              <a:t>Simulation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97679"/>
            <a:ext cx="5166360" cy="109728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600" b="0" i="0">
                <a:solidFill>
                  <a:srgbClr val="52514E"/>
                </a:solidFill>
                <a:latin typeface="Calibri"/>
                <a:ea typeface="Calibri"/>
              </a:rPr>
              <a:t>One server, no batching. Not a live inference engine.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3520439"/>
            <a:ext cx="5623560" cy="21762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59" y="3776472"/>
            <a:ext cx="5166360" cy="38404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2200" b="1" i="0">
                <a:solidFill>
                  <a:srgbClr val="0D366B"/>
                </a:solidFill>
                <a:latin typeface="Calibri"/>
                <a:ea typeface="Calibri"/>
              </a:rPr>
              <a:t>Fairness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4297679"/>
            <a:ext cx="5166360" cy="109728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600" b="0" i="0">
                <a:solidFill>
                  <a:srgbClr val="52514E"/>
                </a:solidFill>
                <a:latin typeface="Calibri"/>
                <a:ea typeface="Calibri"/>
              </a:rPr>
              <a:t>Predicted-Short waits 7 s; predicted-Very long waits 150 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65392"/>
            <a:ext cx="8686800" cy="25603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l"/>
            <a:r>
              <a:rPr sz="1100" b="0" i="0">
                <a:solidFill>
                  <a:srgbClr val="898781"/>
                </a:solidFill>
                <a:latin typeface="Calibri"/>
                <a:ea typeface="Calibri"/>
              </a:rPr>
              <a:t>CS Workshop  ·  Tel Aviv University  ·  Gal Mund &amp; Nadav Grossman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r"/>
            <a:r>
              <a:rPr sz="1100" b="0" i="0">
                <a:solidFill>
                  <a:srgbClr val="898781"/>
                </a:solidFill>
                <a:latin typeface="Calibri"/>
                <a:ea typeface="Calibri"/>
              </a:rPr>
              <a:t>14  / 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200" b="1" i="0">
                <a:solidFill>
                  <a:srgbClr val="256ABF"/>
                </a:solidFill>
                <a:latin typeface="Calibri"/>
                <a:ea typeface="Calibri"/>
              </a:rPr>
              <a:t>06  · 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7548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2600" b="1" i="0">
                <a:solidFill>
                  <a:srgbClr val="0D366B"/>
                </a:solidFill>
                <a:latin typeface="Calibri"/>
                <a:ea typeface="Calibri"/>
              </a:rPr>
              <a:t>The prompt carries a usable length signal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70432"/>
            <a:ext cx="1115568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28016" cy="1298448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35024"/>
            <a:ext cx="1005840" cy="329184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600" b="1" i="0">
                <a:solidFill>
                  <a:srgbClr val="256ABF"/>
                </a:solidFill>
                <a:latin typeface="Calibri"/>
                <a:ea typeface="Calibri"/>
              </a:rPr>
              <a:t>H1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335024"/>
            <a:ext cx="3840480" cy="45720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2200" b="1" i="0">
                <a:solidFill>
                  <a:srgbClr val="0D366B"/>
                </a:solidFill>
                <a:latin typeface="Calibri"/>
                <a:ea typeface="Calibri"/>
              </a:rPr>
              <a:t>2.35× / 3.47× chance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517904"/>
            <a:ext cx="5394960" cy="64008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600" b="0" i="0">
                <a:solidFill>
                  <a:srgbClr val="52514E"/>
                </a:solidFill>
                <a:latin typeface="Calibri"/>
                <a:ea typeface="Calibri"/>
              </a:rPr>
              <a:t>Both models beat chance on equal-sized buckets.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587752"/>
            <a:ext cx="1115568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2587752"/>
            <a:ext cx="128016" cy="1298448"/>
          </a:xfrm>
          <a:prstGeom prst="rect">
            <a:avLst/>
          </a:prstGeom>
          <a:solidFill>
            <a:srgbClr val="256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752344"/>
            <a:ext cx="1005840" cy="329184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600" b="1" i="0">
                <a:solidFill>
                  <a:srgbClr val="256ABF"/>
                </a:solidFill>
                <a:latin typeface="Calibri"/>
                <a:ea typeface="Calibri"/>
              </a:rPr>
              <a:t>H2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752344"/>
            <a:ext cx="3840480" cy="45720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2200" b="1" i="0">
                <a:solidFill>
                  <a:srgbClr val="0D366B"/>
                </a:solidFill>
                <a:latin typeface="Calibri"/>
                <a:ea typeface="Calibri"/>
              </a:rPr>
              <a:t>Not prompt length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935224"/>
            <a:ext cx="5394960" cy="64008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600" b="0" i="0">
                <a:solidFill>
                  <a:srgbClr val="52514E"/>
                </a:solidFill>
                <a:latin typeface="Calibri"/>
                <a:ea typeface="Calibri"/>
              </a:rPr>
              <a:t>A rule on prompt tokens reaches only 33% and 18%.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005072"/>
            <a:ext cx="1115568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4005072"/>
            <a:ext cx="128016" cy="1298448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169663"/>
            <a:ext cx="1005840" cy="329184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600" b="1" i="0">
                <a:solidFill>
                  <a:srgbClr val="256ABF"/>
                </a:solidFill>
                <a:latin typeface="Calibri"/>
                <a:ea typeface="Calibri"/>
              </a:rPr>
              <a:t>H3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4169663"/>
            <a:ext cx="3840480" cy="45720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2200" b="1" i="0">
                <a:solidFill>
                  <a:srgbClr val="0D366B"/>
                </a:solidFill>
                <a:latin typeface="Calibri"/>
                <a:ea typeface="Calibri"/>
              </a:rPr>
              <a:t>60% → 72% of oracle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352544"/>
            <a:ext cx="5394960" cy="64008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600" b="0" i="0">
                <a:solidFill>
                  <a:srgbClr val="52514E"/>
                </a:solidFill>
                <a:latin typeface="Calibri"/>
                <a:ea typeface="Calibri"/>
              </a:rPr>
              <a:t>Finer buckets recover more of the true-length queue gain.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8686800" cy="25603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l"/>
            <a:r>
              <a:rPr sz="1100" b="0" i="0">
                <a:solidFill>
                  <a:srgbClr val="898781"/>
                </a:solidFill>
                <a:latin typeface="Calibri"/>
                <a:ea typeface="Calibri"/>
              </a:rPr>
              <a:t>CS Workshop  ·  Tel Aviv University  ·  Gal Mund &amp; Nadav Grossman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r"/>
            <a:r>
              <a:rPr sz="1100" b="0" i="0">
                <a:solidFill>
                  <a:srgbClr val="898781"/>
                </a:solidFill>
                <a:latin typeface="Calibri"/>
                <a:ea typeface="Calibri"/>
              </a:rPr>
              <a:t>15  / 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1554480"/>
            <a:ext cx="1234440" cy="64008"/>
          </a:xfrm>
          <a:prstGeom prst="rect">
            <a:avLst/>
          </a:prstGeom>
          <a:solidFill>
            <a:srgbClr val="6DA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11155680" cy="64008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  <a:ea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606040"/>
            <a:ext cx="1115568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2200" b="0" i="0">
                <a:solidFill>
                  <a:srgbClr val="6DA7EC"/>
                </a:solidFill>
                <a:latin typeface="Calibri"/>
                <a:ea typeface="Calibri"/>
              </a:rPr>
              <a:t>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703320"/>
            <a:ext cx="11155680" cy="64008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  <a:ea typeface="Calibri"/>
              </a:rPr>
              <a:t>DistilBERT  58.7%  ·  −33% wait
ModernBERT-large  43.4%  ·  −40% wait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0"/>
            <a:ext cx="11155680" cy="50292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/>
            <a:r>
              <a:rPr sz="1600" b="0" i="0">
                <a:solidFill>
                  <a:srgbClr val="D5E4F6"/>
                </a:solidFill>
                <a:latin typeface="Calibri"/>
                <a:ea typeface="Calibri"/>
              </a:rPr>
              <a:t>Gal Mund  ·  322544297          Nadav Grossman  ·  315111880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8686800" cy="25603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l"/>
            <a:r>
              <a:rPr sz="1100" b="0" i="0">
                <a:solidFill>
                  <a:srgbClr val="B7C9E3"/>
                </a:solidFill>
                <a:latin typeface="Calibri"/>
                <a:ea typeface="Calibri"/>
              </a:rPr>
              <a:t>CS Workshop  ·  Tel Aviv University  ·  Gal Mund &amp; Nadav Grossman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r"/>
            <a:r>
              <a:rPr sz="1100" b="0" i="0">
                <a:solidFill>
                  <a:srgbClr val="B7C9E3"/>
                </a:solidFill>
                <a:latin typeface="Calibri"/>
                <a:ea typeface="Calibri"/>
              </a:rPr>
              <a:t>16  /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1465</Words>
  <Application>Microsoft Macintosh PowerPoint</Application>
  <PresentationFormat>Widescreen</PresentationFormat>
  <Paragraphs>236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the Length of an LLM Answer from the Prompt</dc:title>
  <dc:subject>CS Workshop, Tel Aviv University</dc:subject>
  <dc:creator>Gal Mund, Nadav Grossman</dc:creator>
  <cp:keywords/>
  <dc:description>Final project presentation</dc:description>
  <cp:lastModifiedBy>Nadav Grossman</cp:lastModifiedBy>
  <cp:revision>1</cp:revision>
  <dcterms:created xsi:type="dcterms:W3CDTF">2013-01-27T09:14:16Z</dcterms:created>
  <dcterms:modified xsi:type="dcterms:W3CDTF">2026-09-21T12:40:46Z</dcterms:modified>
  <cp:category/>
</cp:coreProperties>
</file>